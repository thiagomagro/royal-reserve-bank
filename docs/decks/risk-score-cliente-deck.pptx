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5836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Liberation Sans"/>
              </a:rPr>
              <a:t>RISK SCORE POR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0B2545"/>
                </a:solidFill>
                <a:latin typeface="Liberation Sans"/>
              </a:rPr>
              <a:t>Hoje o banco opera sem nenhuma medida de risco por cliente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697480"/>
            <a:ext cx="1051560" cy="32004"/>
          </a:xfrm>
          <a:prstGeom prst="rect">
            <a:avLst/>
          </a:prstGeom>
          <a:solidFill>
            <a:srgbClr val="C9A227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063240"/>
            <a:ext cx="10744200" cy="196596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  <a:defRPr sz="2000">
                <a:solidFill>
                  <a:srgbClr val="2E3440"/>
                </a:solidFill>
                <a:latin typeface="Liberation Sans"/>
              </a:defRPr>
            </a:pPr>
            <a:r>
              <a:t>• Contas e transações são tratadas sem diferenciação de perfil.</a:t>
            </a:r>
          </a:p>
          <a:p>
            <a:pPr>
              <a:lnSpc>
                <a:spcPct val="112000"/>
              </a:lnSpc>
              <a:spcAft>
                <a:spcPts val="1800"/>
              </a:spcAft>
              <a:defRPr sz="2000">
                <a:solidFill>
                  <a:srgbClr val="2E3440"/>
                </a:solidFill>
                <a:latin typeface="Liberation Sans"/>
              </a:defRPr>
            </a:pPr>
            <a:r>
              <a:t>• O objetivo é um risk score por cliente, consultável em tempo real e recalculado diariamente.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108192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Liberation Sans"/>
              </a:rPr>
              <a:t>Comitê executivo · Decisão pedida: aprovar a Abordagem B e a Fase 0 · Fonte: design doc Risk Score por Cliente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9319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Liberation San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46888"/>
            <a:ext cx="1065276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Liberation Sans"/>
              </a:rPr>
              <a:t>O bloqueio não é o cálculo do score, é a ausência dos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1225296"/>
            <a:ext cx="10698480" cy="22860"/>
          </a:xfrm>
          <a:prstGeom prst="rect">
            <a:avLst/>
          </a:prstGeom>
          <a:solidFill>
            <a:srgbClr val="C9A227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744200" cy="338328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  <a:defRPr sz="2000">
                <a:solidFill>
                  <a:srgbClr val="2E3440"/>
                </a:solidFill>
                <a:latin typeface="Liberation Sans"/>
              </a:defRPr>
            </a:pPr>
            <a:r>
              <a:t>• Não existe entidade "cliente": a conta guarda apenas nome do titular, saldo e moeda, e o nome não é único.</a:t>
            </a:r>
          </a:p>
          <a:p>
            <a:pPr>
              <a:lnSpc>
                <a:spcPct val="112000"/>
              </a:lnSpc>
              <a:spcAft>
                <a:spcPts val="1800"/>
              </a:spcAft>
              <a:defRPr sz="2000">
                <a:solidFill>
                  <a:srgbClr val="2E3440"/>
                </a:solidFill>
                <a:latin typeface="Liberation Sans"/>
              </a:defRPr>
            </a:pPr>
            <a:r>
              <a:t>• A transação não registra dono, valor monetário nem data, então não há histórico transacional por cliente.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53912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Liberation Sans"/>
              </a:rPr>
              <a:t>Nenhum dos cinco fatores pedidos (saldo, volume, frequência, tempo de casa, KYC) existe hoje.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9319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Liberation San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46888"/>
            <a:ext cx="1065276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Liberation Sans"/>
              </a:rPr>
              <a:t>Uma Fase 0 de modelo de dados é pré-requisito de qualquer abordagem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1225296"/>
            <a:ext cx="10698480" cy="22860"/>
          </a:xfrm>
          <a:prstGeom prst="rect">
            <a:avLst/>
          </a:prstGeom>
          <a:solidFill>
            <a:srgbClr val="C9A227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744200" cy="338328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  <a:defRPr sz="2000">
                <a:solidFill>
                  <a:srgbClr val="2E3440"/>
                </a:solidFill>
                <a:latin typeface="Liberation Sans"/>
              </a:defRPr>
            </a:pPr>
            <a:r>
              <a:t>• Criar a entidade Customer no account-api, com documento, data de abertura e KYC, e ligar as contas a ela.</a:t>
            </a:r>
          </a:p>
          <a:p>
            <a:pPr>
              <a:lnSpc>
                <a:spcPct val="112000"/>
              </a:lnSpc>
              <a:spcAft>
                <a:spcPts val="1800"/>
              </a:spcAft>
              <a:defRPr sz="2000">
                <a:solidFill>
                  <a:srgbClr val="2E3440"/>
                </a:solidFill>
                <a:latin typeface="Liberation Sans"/>
              </a:defRPr>
            </a:pPr>
            <a:r>
              <a:t>• Incluir cliente, valor com moeda e timestamp na transação e no evento publicado no Kafka.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53912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Liberation Sans"/>
              </a:rPr>
              <a:t>Sem a Fase 0, só é possível entregar um score de fachada.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9319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Liberation San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46888"/>
            <a:ext cx="1065276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Liberation Sans"/>
              </a:rPr>
              <a:t>Três abordagens, com o mesmo pré-requisito e coberturas diferentes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1225296"/>
            <a:ext cx="10698480" cy="22860"/>
          </a:xfrm>
          <a:prstGeom prst="rect">
            <a:avLst/>
          </a:prstGeom>
          <a:solidFill>
            <a:srgbClr val="C9A227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44752"/>
          <a:ext cx="11000232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743200"/>
                <a:gridCol w="1828800"/>
                <a:gridCol w="1051560"/>
                <a:gridCol w="2404872"/>
              </a:tblGrid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Abordagem</a:t>
                      </a:r>
                    </a:p>
                  </a:txBody>
                  <a:tcPr marL="109728" marR="91440" marT="73152" marB="54864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Atende realtime 300 ms</a:t>
                      </a:r>
                    </a:p>
                  </a:txBody>
                  <a:tcPr marL="109728" marR="91440" marT="73152" marB="54864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Isolamento de falha</a:t>
                      </a:r>
                    </a:p>
                  </a:txBody>
                  <a:tcPr marL="109728" marR="91440" marT="73152" marB="54864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Esforço</a:t>
                      </a:r>
                    </a:p>
                  </a:txBody>
                  <a:tcPr marL="109728" marR="91440" marT="73152" marB="54864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Confiança</a:t>
                      </a:r>
                    </a:p>
                  </a:txBody>
                  <a:tcPr marL="109728" marR="91440" marT="73152" marB="54864">
                    <a:solidFill>
                      <a:srgbClr val="0B2545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E3440"/>
                          </a:solidFill>
                          <a:latin typeface="Liberation Sans"/>
                        </a:rPr>
                        <a:t>A — score dentro do account-api</a:t>
                      </a:r>
                    </a:p>
                  </a:txBody>
                  <a:tcPr marL="109728" marR="91440" marT="73152" marB="54864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E3440"/>
                          </a:solidFill>
                          <a:latin typeface="Liberation Sans"/>
                        </a:rPr>
                        <a:t>Só se materializar o score</a:t>
                      </a:r>
                    </a:p>
                  </a:txBody>
                  <a:tcPr marL="109728" marR="91440" marT="73152" marB="54864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E3440"/>
                          </a:solidFill>
                          <a:latin typeface="Liberation Sans"/>
                        </a:rPr>
                        <a:t>Baixo</a:t>
                      </a:r>
                    </a:p>
                  </a:txBody>
                  <a:tcPr marL="109728" marR="91440" marT="73152" marB="54864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E3440"/>
                          </a:solidFill>
                          <a:latin typeface="Liberation Sans"/>
                        </a:rPr>
                        <a:t>M</a:t>
                      </a:r>
                    </a:p>
                  </a:txBody>
                  <a:tcPr marL="109728" marR="91440" marT="73152" marB="54864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E3440"/>
                          </a:solidFill>
                          <a:latin typeface="Liberation Sans"/>
                        </a:rPr>
                        <a:t>75</a:t>
                      </a:r>
                    </a:p>
                  </a:txBody>
                  <a:tcPr marL="109728" marR="91440" marT="73152" marB="54864">
                    <a:solidFill>
                      <a:srgbClr val="F2F4F7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E3440"/>
                          </a:solidFill>
                          <a:latin typeface="Liberation Sans"/>
                        </a:rPr>
                        <a:t>B — novo risk-score-api com eventos e job</a:t>
                      </a:r>
                    </a:p>
                  </a:txBody>
                  <a:tcPr marL="109728" marR="91440" marT="73152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E3440"/>
                          </a:solidFill>
                          <a:latin typeface="Liberation Sans"/>
                        </a:rPr>
                        <a:t>Sim</a:t>
                      </a:r>
                    </a:p>
                  </a:txBody>
                  <a:tcPr marL="109728" marR="91440" marT="73152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E3440"/>
                          </a:solidFill>
                          <a:latin typeface="Liberation Sans"/>
                        </a:rPr>
                        <a:t>Alto</a:t>
                      </a:r>
                    </a:p>
                  </a:txBody>
                  <a:tcPr marL="109728" marR="91440" marT="73152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E3440"/>
                          </a:solidFill>
                          <a:latin typeface="Liberation Sans"/>
                        </a:rPr>
                        <a:t>G</a:t>
                      </a:r>
                    </a:p>
                  </a:txBody>
                  <a:tcPr marL="109728" marR="91440" marT="73152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E3440"/>
                          </a:solidFill>
                          <a:latin typeface="Liberation Sans"/>
                        </a:rPr>
                        <a:t>70</a:t>
                      </a:r>
                    </a:p>
                  </a:txBody>
                  <a:tcPr marL="109728" marR="91440" marT="73152" marB="54864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E3440"/>
                          </a:solidFill>
                          <a:latin typeface="Liberation Sans"/>
                        </a:rPr>
                        <a:t>C — risk-score-api só em batch</a:t>
                      </a:r>
                    </a:p>
                  </a:txBody>
                  <a:tcPr marL="109728" marR="91440" marT="73152" marB="54864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E3440"/>
                          </a:solidFill>
                          <a:latin typeface="Liberation Sans"/>
                        </a:rPr>
                        <a:t>Leitura rápida, dado defasado</a:t>
                      </a:r>
                    </a:p>
                  </a:txBody>
                  <a:tcPr marL="109728" marR="91440" marT="73152" marB="54864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E3440"/>
                          </a:solidFill>
                          <a:latin typeface="Liberation Sans"/>
                        </a:rPr>
                        <a:t>Alto</a:t>
                      </a:r>
                    </a:p>
                  </a:txBody>
                  <a:tcPr marL="109728" marR="91440" marT="73152" marB="54864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E3440"/>
                          </a:solidFill>
                          <a:latin typeface="Liberation Sans"/>
                        </a:rPr>
                        <a:t>M</a:t>
                      </a:r>
                    </a:p>
                  </a:txBody>
                  <a:tcPr marL="109728" marR="91440" marT="73152" marB="54864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E3440"/>
                          </a:solidFill>
                          <a:latin typeface="Liberation Sans"/>
                        </a:rPr>
                        <a:t>80</a:t>
                      </a:r>
                    </a:p>
                  </a:txBody>
                  <a:tcPr marL="109728" marR="91440" marT="73152" marB="54864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080760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Liberation Sans"/>
              </a:rPr>
              <a:t>Confiança de sucesso da implantação conforme o design doc.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9319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Liberation San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46888"/>
            <a:ext cx="1065276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Liberation Sans"/>
              </a:rPr>
              <a:t>A recomendação é a Abordagem B, precedida da Fase 0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1225296"/>
            <a:ext cx="10698480" cy="22860"/>
          </a:xfrm>
          <a:prstGeom prst="rect">
            <a:avLst/>
          </a:prstGeom>
          <a:solidFill>
            <a:srgbClr val="C9A227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744200" cy="338328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  <a:defRPr sz="2000">
                <a:solidFill>
                  <a:srgbClr val="2E3440"/>
                </a:solidFill>
                <a:latin typeface="Liberation Sans"/>
              </a:defRPr>
            </a:pPr>
            <a:r>
              <a:t>• O SLA de 300 ms com recálculo diário exige score materializado e cálculo fora do caminho de leitura.</a:t>
            </a:r>
          </a:p>
          <a:p>
            <a:pPr>
              <a:lnSpc>
                <a:spcPct val="112000"/>
              </a:lnSpc>
              <a:spcAft>
                <a:spcPts val="1800"/>
              </a:spcAft>
              <a:defRPr sz="2000">
                <a:solidFill>
                  <a:srgbClr val="2E3440"/>
                </a:solidFill>
                <a:latin typeface="Liberation Sans"/>
              </a:defRPr>
            </a:pPr>
            <a:r>
              <a:t>• Colocar o motor de risco dentro do account-api acopla risco a cadastro sem economizar o custo da persistência.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53912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Liberation Sans"/>
              </a:rPr>
              <a:t>A Abordagem C só se justifica se o negócio aceitar score defasado entre execuções do job.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9319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Liberation San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46888"/>
            <a:ext cx="1065276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Liberation Sans"/>
              </a:rPr>
              <a:t>O impacto é medido pela cobertura dos fatores e pela auditabilidade do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1225296"/>
            <a:ext cx="10698480" cy="22860"/>
          </a:xfrm>
          <a:prstGeom prst="rect">
            <a:avLst/>
          </a:prstGeom>
          <a:solidFill>
            <a:srgbClr val="C9A227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744200" cy="338328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  <a:defRPr sz="2000">
                <a:solidFill>
                  <a:srgbClr val="2E3440"/>
                </a:solidFill>
                <a:latin typeface="Liberation Sans"/>
              </a:defRPr>
            </a:pPr>
            <a:r>
              <a:t>• Score 0–1000 (BAIXO 0–299, MÉDIO 300–599, ALTO 600–1000) com quatro componentes: KYC 30%, tempo de casa 20%, saldo agregado em BRL 20%, comportamento transacional 30%.</a:t>
            </a:r>
          </a:p>
          <a:p>
            <a:pPr>
              <a:lnSpc>
                <a:spcPct val="112000"/>
              </a:lnSpc>
              <a:spcAft>
                <a:spcPts val="1800"/>
              </a:spcAft>
              <a:defRPr sz="2000">
                <a:solidFill>
                  <a:srgbClr val="2E3440"/>
                </a:solidFill>
                <a:latin typeface="Liberation Sans"/>
              </a:defRPr>
            </a:pPr>
            <a:r>
              <a:t>• Pesos e limiares parametrizáveis via Config Server e fatores persistidos a cada cálculo, para recalibrar sem deploy e sustentar auditoria.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53912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Liberation Sans"/>
              </a:rPr>
              <a:t>Pendência de dado: régua depende de validação escrita de Risco/Crédito; não há meta de negócio quantificada na fonte.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9319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Liberation San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46888"/>
            <a:ext cx="1065276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Liberation Sans"/>
              </a:rPr>
              <a:t>Os riscos maiores são de dado, de acesso e de compliance, e todos têm mitigação definida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1225296"/>
            <a:ext cx="10698480" cy="22860"/>
          </a:xfrm>
          <a:prstGeom prst="rect">
            <a:avLst/>
          </a:prstGeom>
          <a:solidFill>
            <a:srgbClr val="C9A227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744200" cy="338328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  <a:defRPr sz="2000">
                <a:solidFill>
                  <a:srgbClr val="2E3440"/>
                </a:solidFill>
                <a:latin typeface="Liberation Sans"/>
              </a:defRPr>
            </a:pPr>
            <a:r>
              <a:t>• Sem role de admin no provedor de identidade, o serviço não publica rota no gateway e opera apenas serviço-a-serviço.</a:t>
            </a:r>
          </a:p>
          <a:p>
            <a:pPr>
              <a:lnSpc>
                <a:spcPct val="112000"/>
              </a:lnSpc>
              <a:spcAft>
                <a:spcPts val="1800"/>
              </a:spcAft>
              <a:defRPr sz="2000">
                <a:solidFill>
                  <a:srgbClr val="2E3440"/>
                </a:solidFill>
                <a:latin typeface="Liberation Sans"/>
              </a:defRPr>
            </a:pPr>
            <a:r>
              <a:t>• LGPD e discriminação algorítmica exigem validação do Jurídico antes de persistir score e operação em modo shadow antes de qualquer decisão de crédito.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53912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Liberation Sans"/>
              </a:rPr>
              <a:t>Câmbio via boletim de fechamento do BCB, com cache da última cotação e registro da taxa usada.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9319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Liberation San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46888"/>
            <a:ext cx="1065276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Liberation Sans"/>
              </a:rPr>
              <a:t>Pedimos a aprovação da Abordagem B com a Fase 0 como épico priorizado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1225296"/>
            <a:ext cx="10698480" cy="22860"/>
          </a:xfrm>
          <a:prstGeom prst="rect">
            <a:avLst/>
          </a:prstGeom>
          <a:solidFill>
            <a:srgbClr val="C9A227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744200" cy="338328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  <a:defRPr sz="2000">
                <a:solidFill>
                  <a:srgbClr val="2E3440"/>
                </a:solidFill>
                <a:latin typeface="Liberation Sans"/>
              </a:defRPr>
            </a:pPr>
            <a:r>
              <a:t>• Decisão pedida: aprovar a Abordagem B e priorizar a Fase 0 como épico próprio, anterior ao score.</a:t>
            </a:r>
          </a:p>
          <a:p>
            <a:pPr>
              <a:lnSpc>
                <a:spcPct val="112000"/>
              </a:lnSpc>
              <a:spcAft>
                <a:spcPts val="1800"/>
              </a:spcAft>
              <a:defRPr sz="2000">
                <a:solidFill>
                  <a:srgbClr val="2E3440"/>
                </a:solidFill>
                <a:latin typeface="Liberation Sans"/>
              </a:defRPr>
            </a:pPr>
            <a:r>
              <a:t>• Próximos passos: Fase 0, risk-score-api, job diário, modo shadow, role de admin e publicação da rota.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53912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Liberation Sans"/>
              </a:rPr>
              <a:t>Perguntas em aberto (do design doc): role de admin; fatores econômicos internos; unificação de titulares legados; confirmação escrita dos valores neutros de cliente legado e KYC ausente; qual boletim do BCB é o oficial.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